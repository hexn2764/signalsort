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37507"/>
            <a:ext cx="11029950" cy="238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808982"/>
            <a:ext cx="11581447" cy="72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b="0" sz="5400" i="0" u="none">
                <a:solidFill>
                  <a:srgbClr val="F9FAFB"/>
                </a:solidFill>
                <a:latin typeface="Plus Jakarta Sans ExtraBold"/>
              </a:rPr>
              <a:t>Nightshift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681412"/>
            <a:ext cx="1102995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CA3AF"/>
                </a:solidFill>
                <a:latin typeface="Plus Jakarta Sans Medium"/>
              </a:rPr>
              <a:t>Turning chaotic issue queues into deterministic, explainable priority streams.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184302"/>
            <a:ext cx="1102995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CA3AF"/>
                </a:solidFill>
                <a:latin typeface="Plus Jakarta Sans Medium"/>
              </a:rPr>
              <a:t>Created by </a:t>
            </a:r>
            <a:r>
              <a:rPr b="0" sz="1200" i="0" u="none">
                <a:solidFill>
                  <a:srgbClr val="E5E7EB"/>
                </a:solidFill>
                <a:latin typeface="Plus Jakarta Sans Medium"/>
              </a:rPr>
              <a:t>Kirill Sedow</a:t>
            </a:r>
            <a:r>
              <a:rPr b="0" sz="1200" i="0" u="none">
                <a:solidFill>
                  <a:srgbClr val="9CA3AF"/>
                </a:solidFill>
                <a:latin typeface="Plus Jakarta Sans Medium"/>
              </a:rPr>
              <a:t>, </a:t>
            </a:r>
            <a:r>
              <a:rPr b="0" sz="1200" i="0" u="none">
                <a:solidFill>
                  <a:srgbClr val="E5E7EB"/>
                </a:solidFill>
                <a:latin typeface="Plus Jakarta Sans Medium"/>
              </a:rPr>
              <a:t>Oussema ben Younes</a:t>
            </a:r>
            <a:r>
              <a:rPr b="0" sz="1200" i="0" u="none">
                <a:solidFill>
                  <a:srgbClr val="9CA3AF"/>
                </a:solidFill>
                <a:latin typeface="Plus Jakarta Sans Medium"/>
              </a:rPr>
              <a:t> &amp; </a:t>
            </a:r>
            <a:r>
              <a:rPr b="0" sz="1200" i="0" u="none">
                <a:solidFill>
                  <a:srgbClr val="E5E7EB"/>
                </a:solidFill>
                <a:latin typeface="Plus Jakarta Sans Medium"/>
              </a:rPr>
              <a:t>Nidhal Karmous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609379"/>
            <a:ext cx="5276850" cy="76467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592460"/>
            <a:ext cx="5276850" cy="238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963935"/>
            <a:ext cx="5540692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9FAFB"/>
                </a:solidFill>
                <a:latin typeface="Plus Jakarta Sans"/>
              </a:rPr>
              <a:t>The Backlog Bottleneck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2459235"/>
            <a:ext cx="5540692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F87171"/>
                </a:solidFill>
                <a:latin typeface="Plus Jakarta Sans SemiBold"/>
              </a:rPr>
              <a:t>"Every team has a backlog nobody reads."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792610"/>
            <a:ext cx="527685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9CA3AF"/>
                </a:solidFill>
                <a:latin typeface="Plus Jakarta Sans"/>
              </a:rPr>
              <a:t>A backlog is a pile of unfinished work, tasks, or orders waiting to be completed. Issues arrive faster than humans can triage them, creating priority debt.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742729"/>
            <a:ext cx="4905375" cy="383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1" u="none">
                <a:solidFill>
                  <a:srgbClr val="F9FAFB"/>
                </a:solidFill>
                <a:latin typeface="Plus Jakarta Sans"/>
              </a:rPr>
              <a:t>"Imagine you have a team of tireless AI developers ready to ship 24/7. But they're all staring at you asking: </a:t>
            </a:r>
            <a:r>
              <a:rPr b="1" sz="975" i="1" u="none">
                <a:solidFill>
                  <a:srgbClr val="F3F4F6"/>
                </a:solidFill>
                <a:latin typeface="Plus Jakarta Sans"/>
              </a:rPr>
              <a:t>what should I code first?</a:t>
            </a:r>
            <a:r>
              <a:rPr b="0" sz="975" i="1" u="none">
                <a:solidFill>
                  <a:srgbClr val="F9FAFB"/>
                </a:solidFill>
                <a:latin typeface="Plus Jakarta Sans"/>
              </a:rPr>
              <a:t> while you drown in 500 issues."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526458"/>
            <a:ext cx="49911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D1D5DB"/>
                </a:solidFill>
                <a:latin typeface="Plus Jakarta Sans"/>
              </a:rPr>
              <a:t>Priority order currently lives in one person's head.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895998"/>
            <a:ext cx="499110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F3F4F6"/>
                </a:solidFill>
                <a:latin typeface="Plus Jakarta Sans"/>
              </a:rPr>
              <a:t>The Shift:</a:t>
            </a:r>
            <a:r>
              <a:rPr b="0" sz="1200" i="0" u="none">
                <a:solidFill>
                  <a:srgbClr val="D1D5DB"/>
                </a:solidFill>
                <a:latin typeface="Plus Jakarta Sans"/>
              </a:rPr>
              <a:t> Bottleneck moved from writing code to choosing tasks.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555033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924573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57387"/>
            <a:ext cx="5324475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9FAFB"/>
                </a:solidFill>
                <a:latin typeface="Plus Jakarta Sans"/>
              </a:rPr>
              <a:t>Ranking That Explains Itself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127051"/>
            <a:ext cx="1211609" cy="238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2498526"/>
            <a:ext cx="559069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950" i="0" u="none">
                <a:solidFill>
                  <a:srgbClr val="F9FAFB"/>
                </a:solidFill>
                <a:latin typeface="Plus Jakarta Sans SemiBold"/>
              </a:rPr>
              <a:t>Transparency Over Black-Box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965251"/>
            <a:ext cx="503872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F3F4F6"/>
                </a:solidFill>
                <a:latin typeface="Plus Jakarta Sans"/>
              </a:rPr>
              <a:t>Auditable Point System:</a:t>
            </a:r>
            <a:r>
              <a:rPr b="0" sz="1200" i="0" u="none">
                <a:solidFill>
                  <a:srgbClr val="D1D5DB"/>
                </a:solidFill>
                <a:latin typeface="Plus Jakarta Sans"/>
              </a:rPr>
              <a:t> Eliminates random LLM hallucinations with deterministic, rule-backed scoring algorithms.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570982"/>
            <a:ext cx="5038725" cy="491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F3F4F6"/>
                </a:solidFill>
                <a:latin typeface="Plus Jakarta Sans"/>
              </a:rPr>
              <a:t>Reasoning Breakdown:</a:t>
            </a:r>
            <a:r>
              <a:rPr b="0" sz="1200" i="0" u="none">
                <a:solidFill>
                  <a:srgbClr val="D1D5DB"/>
                </a:solidFill>
                <a:latin typeface="Plus Jakarta Sans"/>
              </a:rPr>
              <a:t> Inspect exact score origins (e.g., </a:t>
            </a:r>
            <a:r>
              <a:rPr b="0" sz="1200" i="0" u="none">
                <a:solidFill>
                  <a:srgbClr val="34D399"/>
                </a:solidFill>
                <a:latin typeface="Plus Jakarta Sans"/>
              </a:rPr>
              <a:t>+30 direct mention</a:t>
            </a:r>
            <a:r>
              <a:rPr b="0" sz="1200" i="0" u="none">
                <a:solidFill>
                  <a:srgbClr val="D1D5DB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34D399"/>
                </a:solidFill>
                <a:latin typeface="Plus Jakarta Sans"/>
              </a:rPr>
              <a:t>+15 crash keyword</a:t>
            </a:r>
            <a:r>
              <a:rPr b="0" sz="1200" i="0" u="none">
                <a:solidFill>
                  <a:srgbClr val="D1D5DB"/>
                </a:solidFill>
                <a:latin typeface="Plus Jakarta Sans"/>
              </a:rPr>
              <a:t>, </a:t>
            </a:r>
            <a:r>
              <a:rPr b="0" sz="1200" i="0" u="none">
                <a:solidFill>
                  <a:srgbClr val="F87171"/>
                </a:solidFill>
                <a:latin typeface="Plus Jakarta Sans"/>
              </a:rPr>
              <a:t>-10 bot</a:t>
            </a:r>
            <a:r>
              <a:rPr b="0" sz="1200" i="0" u="none">
                <a:solidFill>
                  <a:srgbClr val="D1D5DB"/>
                </a:solidFill>
                <a:latin typeface="Plus Jakarta Sans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4195762"/>
            <a:ext cx="503872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F3F4F6"/>
                </a:solidFill>
                <a:latin typeface="Plus Jakarta Sans"/>
              </a:rPr>
              <a:t>Unified Queue:</a:t>
            </a:r>
            <a:r>
              <a:rPr b="0" sz="1200" i="0" u="none">
                <a:solidFill>
                  <a:srgbClr val="D1D5DB"/>
                </a:solidFill>
                <a:latin typeface="Plus Jakarta Sans"/>
              </a:rPr>
              <a:t> Synthesizes Slack noise, GitHub issues, and error monitoring into a single ordered stream.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801492"/>
            <a:ext cx="5038725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1" sz="1200" i="0" u="none">
                <a:solidFill>
                  <a:srgbClr val="F3F4F6"/>
                </a:solidFill>
                <a:latin typeface="Plus Jakarta Sans"/>
              </a:rPr>
              <a:t>Human Execution Gate:</a:t>
            </a:r>
            <a:r>
              <a:rPr b="0" sz="1200" i="0" u="none">
                <a:solidFill>
                  <a:srgbClr val="D1D5DB"/>
                </a:solidFill>
                <a:latin typeface="Plus Jakarta Sans"/>
              </a:rPr>
              <a:t> AI prepares work, human reviews and approves final pull requests.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966912"/>
            <a:ext cx="5305425" cy="3600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993826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599557"/>
            <a:ext cx="1333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224337"/>
            <a:ext cx="1714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025" y="4830067"/>
            <a:ext cx="1905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62212"/>
            <a:ext cx="2614612" cy="260970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137" y="2462212"/>
            <a:ext cx="2614612" cy="260970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462212"/>
            <a:ext cx="2614612" cy="260970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6362" y="2462212"/>
            <a:ext cx="2614612" cy="26097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9FAFB"/>
                </a:solidFill>
                <a:latin typeface="Plus Jakarta Sans"/>
              </a:rPr>
              <a:t>How It Works: The Autonomous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252787"/>
            <a:ext cx="2205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lus Jakarta Sans SemiBold"/>
              </a:rPr>
              <a:t>1. Ingest &amp; 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3633787"/>
            <a:ext cx="2100262" cy="94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CA3AF"/>
                </a:solidFill>
                <a:latin typeface="Plus Jakarta Sans"/>
              </a:rPr>
              <a:t>Monitors production alerts, Slack channels, and support tickets to auto-create structured GitHub issues.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3312" y="3252787"/>
            <a:ext cx="2205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lus Jakarta Sans SemiBold"/>
              </a:rPr>
              <a:t>2. Triage &amp; 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3312" y="3633787"/>
            <a:ext cx="2100262" cy="94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CA3AF"/>
                </a:solidFill>
                <a:latin typeface="Plus Jakarta Sans"/>
              </a:rPr>
              <a:t>Evaluates severity, user impact, and effort, attaching explicit score labels directly to each issue.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3252787"/>
            <a:ext cx="2205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lus Jakarta Sans SemiBold"/>
              </a:rPr>
              <a:t>3. Agent Solve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3633787"/>
            <a:ext cx="2100262" cy="1180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CA3AF"/>
                </a:solidFill>
                <a:latin typeface="Plus Jakarta Sans"/>
              </a:rPr>
              <a:t>AI agents pick top-ranked tasks, create isolated Git worktrees, write code, run unit tests, and open clean PRs.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537" y="3252787"/>
            <a:ext cx="2205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8BDF8"/>
                </a:solidFill>
                <a:latin typeface="Plus Jakarta Sans SemiBold"/>
              </a:rPr>
              <a:t>4. Human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3537" y="3633787"/>
            <a:ext cx="2100262" cy="944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CA3AF"/>
                </a:solidFill>
                <a:latin typeface="Plus Jakarta Sans"/>
              </a:rPr>
              <a:t>Developers review ready-to-merge PRs. 1-click approve or dismiss—zero autonomous merges without oversight.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767012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3312" y="2767012"/>
            <a:ext cx="2286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2767012"/>
            <a:ext cx="2667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3537" y="2767012"/>
            <a:ext cx="3810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52402"/>
            <a:ext cx="11029950" cy="666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452514"/>
            <a:ext cx="5324475" cy="152459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447752"/>
            <a:ext cx="5324475" cy="1534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9FAFB"/>
                </a:solidFill>
                <a:latin typeface="Plus Jakarta Sans"/>
              </a:rPr>
              <a:t>Explainable Priority Formula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9197" y="2771477"/>
            <a:ext cx="6962179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" y="3671589"/>
            <a:ext cx="513064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Signal Scale &amp; Weights (1–5)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985914"/>
            <a:ext cx="488632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F3F4F6"/>
                </a:solidFill>
                <a:latin typeface="Plus Jakarta Sans"/>
              </a:rPr>
              <a:t>Severity (W=12):</a:t>
            </a:r>
            <a:r>
              <a:rPr b="0" sz="1050" i="0" u="none">
                <a:solidFill>
                  <a:srgbClr val="9CA3AF"/>
                </a:solidFill>
                <a:latin typeface="Plus Jakarta Sans"/>
              </a:rPr>
              <a:t> 5 = System Crash | 3 = UX Bug | 1 = Typo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268688"/>
            <a:ext cx="488632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F3F4F6"/>
                </a:solidFill>
                <a:latin typeface="Plus Jakarta Sans"/>
              </a:rPr>
              <a:t>Impact (W=8):</a:t>
            </a:r>
            <a:r>
              <a:rPr b="0" sz="1050" i="0" u="none">
                <a:solidFill>
                  <a:srgbClr val="9CA3AF"/>
                </a:solidFill>
                <a:latin typeface="Plus Jakarta Sans"/>
              </a:rPr>
              <a:t> 5 = All Users | 3 = Edge Case | 1 =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551461"/>
            <a:ext cx="488632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1" sz="1050" i="0" u="none">
                <a:solidFill>
                  <a:srgbClr val="F3F4F6"/>
                </a:solidFill>
                <a:latin typeface="Plus Jakarta Sans"/>
              </a:rPr>
              <a:t>Effort (W=4):</a:t>
            </a:r>
            <a:r>
              <a:rPr b="0" sz="1050" i="0" u="none">
                <a:solidFill>
                  <a:srgbClr val="9CA3AF"/>
                </a:solidFill>
                <a:latin typeface="Plus Jakarta Sans"/>
              </a:rPr>
              <a:t> 5 = Multi-File Refactor | 1 = Single-Line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3666827"/>
            <a:ext cx="513064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4D399"/>
                </a:solidFill>
                <a:latin typeface="Plus Jakarta Sans SemiBold"/>
              </a:rPr>
              <a:t>Deterministic Triage 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3981152"/>
            <a:ext cx="488632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9CA3AF"/>
                </a:solidFill>
                <a:latin typeface="Plus Jakarta Sans"/>
              </a:rPr>
              <a:t>✓ Zero LLM latency or costly tokens during initial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4263925"/>
            <a:ext cx="4886325" cy="206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9CA3AF"/>
                </a:solidFill>
                <a:latin typeface="Plus Jakarta Sans"/>
              </a:rPr>
              <a:t>✓ 100% reproducible and customizable team rulebook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4546699"/>
            <a:ext cx="4886325" cy="2160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b="0" sz="1050" i="0" u="none">
                <a:solidFill>
                  <a:srgbClr val="9CA3AF"/>
                </a:solidFill>
                <a:latin typeface="Plus Jakarta Sans"/>
              </a:rPr>
              <a:t>✓ Output tag attached to GitHub: </a:t>
            </a:r>
            <a:r>
              <a:rPr b="0" sz="1050" i="0" u="none">
                <a:solidFill>
                  <a:srgbClr val="38BDF8"/>
                </a:solidFill>
                <a:latin typeface="Plus Jakarta Sans"/>
              </a:rPr>
              <a:t>score:84 sev:4 imp:5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9FAFB"/>
                </a:solidFill>
                <a:latin typeface="Plus Jakarta Sans"/>
              </a:rPr>
              <a:t>Before vs. After Nightshift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386012"/>
          <a:ext cx="11010899" cy="2762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52725"/>
                <a:gridCol w="4129087"/>
                <a:gridCol w="4129087"/>
              </a:tblGrid>
              <a:tr h="46037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Traditional Backlog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Nightshift Triage Engine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D1D5DB"/>
                          </a:solidFill>
                          <a:latin typeface="Plus Jakarta Sans"/>
                        </a:rPr>
                        <a:t>Priority Ordering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87171"/>
                          </a:solidFill>
                          <a:latin typeface="Plus Jakarta Sans"/>
                        </a:rPr>
                        <a:t>Trapped inside one lead dev's head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Transparent, mathematical, &amp; auditable labels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D1D5DB"/>
                          </a:solidFill>
                          <a:latin typeface="Plus Jakarta Sans"/>
                        </a:rPr>
                        <a:t>Triage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87171"/>
                          </a:solidFill>
                          <a:latin typeface="Plus Jakarta Sans"/>
                        </a:rPr>
                        <a:t>Hours spent reading &amp; categorizing issues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Sub-second automated evaluation &amp; ranking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D1D5DB"/>
                          </a:solidFill>
                          <a:latin typeface="Plus Jakarta Sans"/>
                        </a:rPr>
                        <a:t>Agent Bottleneck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87171"/>
                          </a:solidFill>
                          <a:latin typeface="Plus Jakarta Sans"/>
                        </a:rPr>
                        <a:t>AI agents idle waiting for human directives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Agents continuously pull top-scored tasks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D1D5DB"/>
                          </a:solidFill>
                          <a:latin typeface="Plus Jakarta Sans"/>
                        </a:rPr>
                        <a:t>Human Role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87171"/>
                          </a:solidFill>
                          <a:latin typeface="Plus Jakarta Sans"/>
                        </a:rPr>
                        <a:t>Manual reading, organizing, and task dispatch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Strategic gatekeeper approving pre-built PRs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D1D5DB"/>
                          </a:solidFill>
                          <a:latin typeface="Plus Jakarta Sans"/>
                        </a:rPr>
                        <a:t>Backlog Health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F87171"/>
                          </a:solidFill>
                          <a:latin typeface="Plus Jakarta Sans"/>
                        </a:rPr>
                        <a:t>Stale, forgotten issues decay over months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4D399"/>
                          </a:solidFill>
                          <a:latin typeface="Plus Jakarta Sans SemiBold"/>
                        </a:rPr>
                        <a:t>Active, prioritized queue aligned with impact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0F1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0550" y="2900362"/>
            <a:ext cx="2752725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43275" y="2900362"/>
            <a:ext cx="4129087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72362" y="2900362"/>
            <a:ext cx="4129087" cy="9525"/>
          </a:xfrm>
          <a:prstGeom prst="rect">
            <a:avLst/>
          </a:prstGeom>
          <a:solidFill>
            <a:srgbClr val="1F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0550" y="3348037"/>
            <a:ext cx="2752725" cy="9525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43275" y="3348037"/>
            <a:ext cx="4129087" cy="9525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72362" y="3348037"/>
            <a:ext cx="4129087" cy="9525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0550" y="3795712"/>
            <a:ext cx="2752725" cy="9525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3275" y="3795712"/>
            <a:ext cx="4129087" cy="9525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72362" y="3795712"/>
            <a:ext cx="4129087" cy="9525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0550" y="4243387"/>
            <a:ext cx="2752725" cy="9525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43275" y="4243387"/>
            <a:ext cx="4129087" cy="9525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72362" y="4243387"/>
            <a:ext cx="4129087" cy="9525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0550" y="4691062"/>
            <a:ext cx="2752725" cy="9525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3275" y="4691062"/>
            <a:ext cx="4129087" cy="9525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72362" y="4691062"/>
            <a:ext cx="4129087" cy="9525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937" y="485775"/>
            <a:ext cx="1762125" cy="2381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914400"/>
            <a:ext cx="11581447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700" i="0" u="none">
                <a:solidFill>
                  <a:srgbClr val="F9FAFB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1981200"/>
            <a:ext cx="11029950" cy="324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b="0" sz="1650" i="0" u="none">
                <a:solidFill>
                  <a:srgbClr val="38BDF8"/>
                </a:solidFill>
                <a:latin typeface="Plus Jakarta Sans"/>
              </a:rPr>
              <a:t>Shift your engineering bottleneck from choosing tasks to shipping solutions.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648842"/>
            <a:ext cx="11029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CA3AF"/>
                </a:solidFill>
                <a:latin typeface="JetBrains Mono"/>
              </a:rPr>
              <a:t>Kirill Sedow | Oussema ben Younes | Nidhal Karmous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11581447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F9FAFB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2809130"/>
            <a:ext cx="11029950" cy="96276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37623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025" y="37623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47553"/>
            <a:ext cx="857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76400" y="2952005"/>
            <a:ext cx="9934575" cy="383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9CA3AF"/>
                </a:solidFill>
                <a:latin typeface="Plus Jakarta Sans"/>
              </a:rPr>
              <a:t>https://media.istockphoto.com/id/2009915566/photo/annoyed-developer-exasperated-after-failing-to-remove-all-bugs-while-coding.jpg?s=170667a&amp;w=is&amp;k=20&amp;c=N2kGbx39yFtqS7Tw7d57N1s4kS9peX1rwyQgwm2FBNQ=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6400" y="3383309"/>
            <a:ext cx="993457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CA3AF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www.istockphoto.com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4010322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76400" y="3914775"/>
            <a:ext cx="9934575" cy="383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9CA3AF"/>
                </a:solidFill>
                <a:latin typeface="Plus Jakarta Sans"/>
              </a:rPr>
              <a:t>https://cdn.prod.website-files.com/64f6d2ace102eb12e147f7a6/69a5638ec90e29fae7a3dab4_6822f732fd15d07761229c19_cleanshot_2025_05_12_at_18_24_00_2x_2x.webp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6400" y="4346078"/>
            <a:ext cx="993457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9CA3AF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www.morgen.so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